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6"/>
  </p:notesMasterIdLst>
  <p:sldIdLst>
    <p:sldId id="256" r:id="rId2"/>
    <p:sldId id="346" r:id="rId3"/>
    <p:sldId id="349" r:id="rId4"/>
    <p:sldId id="369" r:id="rId5"/>
    <p:sldId id="370" r:id="rId6"/>
    <p:sldId id="368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</p:sldIdLst>
  <p:sldSz cx="12960350" cy="6840538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BA418856-1B13-0E4D-B8D9-6D6ECDDA5229}">
          <p14:sldIdLst>
            <p14:sldId id="256"/>
            <p14:sldId id="346"/>
            <p14:sldId id="349"/>
            <p14:sldId id="369"/>
            <p14:sldId id="370"/>
            <p14:sldId id="368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</p14:sldIdLst>
        </p14:section>
      </p14:sectionLst>
    </p:ext>
    <p:ext uri="{EFAFB233-063F-42B5-8137-9DF3F51BA10A}">
      <p15:sldGuideLst xmlns:p15="http://schemas.microsoft.com/office/powerpoint/2012/main">
        <p15:guide id="1" pos="657" userDrawn="1">
          <p15:clr>
            <a:srgbClr val="A4A3A4"/>
          </p15:clr>
        </p15:guide>
        <p15:guide id="2" orient="horz" pos="703" userDrawn="1">
          <p15:clr>
            <a:srgbClr val="A4A3A4"/>
          </p15:clr>
        </p15:guide>
        <p15:guide id="3" pos="72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Елена Елена" initials="ЕЕ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003E"/>
    <a:srgbClr val="E0150F"/>
    <a:srgbClr val="E6E6E6"/>
    <a:srgbClr val="AFABAB"/>
    <a:srgbClr val="6D6D6D"/>
    <a:srgbClr val="EB5E3F"/>
    <a:srgbClr val="48494A"/>
    <a:srgbClr val="061A6C"/>
    <a:srgbClr val="40404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27" autoAdjust="0"/>
    <p:restoredTop sz="94679"/>
  </p:normalViewPr>
  <p:slideViewPr>
    <p:cSldViewPr snapToGrid="0">
      <p:cViewPr varScale="1">
        <p:scale>
          <a:sx n="217" d="100"/>
          <a:sy n="217" d="100"/>
        </p:scale>
        <p:origin x="760" y="176"/>
      </p:cViewPr>
      <p:guideLst>
        <p:guide pos="657"/>
        <p:guide orient="horz" pos="703"/>
        <p:guide pos="72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B0AE3-F1A2-394F-BC18-67F76EFC1ECD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42888" y="1233488"/>
            <a:ext cx="6311900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377317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C60B-6F98-8646-A41A-70FA44D3BD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323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9C60B-6F98-8646-A41A-70FA44D3BD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68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44" y="1119505"/>
            <a:ext cx="9720263" cy="2381521"/>
          </a:xfrm>
        </p:spPr>
        <p:txBody>
          <a:bodyPr anchor="b"/>
          <a:lstStyle>
            <a:lvl1pPr algn="ctr">
              <a:defRPr sz="5985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44" y="3592866"/>
            <a:ext cx="9720263" cy="1651546"/>
          </a:xfrm>
        </p:spPr>
        <p:txBody>
          <a:bodyPr/>
          <a:lstStyle>
            <a:lvl1pPr marL="0" indent="0" algn="ctr">
              <a:buNone/>
              <a:defRPr sz="2394"/>
            </a:lvl1pPr>
            <a:lvl2pPr marL="456057" indent="0" algn="ctr">
              <a:buNone/>
              <a:defRPr sz="1995"/>
            </a:lvl2pPr>
            <a:lvl3pPr marL="912114" indent="0" algn="ctr">
              <a:buNone/>
              <a:defRPr sz="1795"/>
            </a:lvl3pPr>
            <a:lvl4pPr marL="1368171" indent="0" algn="ctr">
              <a:buNone/>
              <a:defRPr sz="1596"/>
            </a:lvl4pPr>
            <a:lvl5pPr marL="1824228" indent="0" algn="ctr">
              <a:buNone/>
              <a:defRPr sz="1596"/>
            </a:lvl5pPr>
            <a:lvl6pPr marL="2280285" indent="0" algn="ctr">
              <a:buNone/>
              <a:defRPr sz="1596"/>
            </a:lvl6pPr>
            <a:lvl7pPr marL="2736342" indent="0" algn="ctr">
              <a:buNone/>
              <a:defRPr sz="1596"/>
            </a:lvl7pPr>
            <a:lvl8pPr marL="3192399" indent="0" algn="ctr">
              <a:buNone/>
              <a:defRPr sz="1596"/>
            </a:lvl8pPr>
            <a:lvl9pPr marL="3648456" indent="0" algn="ctr">
              <a:buNone/>
              <a:defRPr sz="1596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06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226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274" y="1705385"/>
            <a:ext cx="11178302" cy="2845473"/>
          </a:xfrm>
        </p:spPr>
        <p:txBody>
          <a:bodyPr anchor="b"/>
          <a:lstStyle>
            <a:lvl1pPr>
              <a:defRPr sz="5985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4274" y="4577778"/>
            <a:ext cx="11178302" cy="1496367"/>
          </a:xfrm>
        </p:spPr>
        <p:txBody>
          <a:bodyPr/>
          <a:lstStyle>
            <a:lvl1pPr marL="0" indent="0">
              <a:buNone/>
              <a:defRPr sz="2394">
                <a:solidFill>
                  <a:schemeClr val="tx1">
                    <a:tint val="75000"/>
                  </a:schemeClr>
                </a:solidFill>
              </a:defRPr>
            </a:lvl1pPr>
            <a:lvl2pPr marL="456057" indent="0">
              <a:buNone/>
              <a:defRPr sz="1995">
                <a:solidFill>
                  <a:schemeClr val="tx1">
                    <a:tint val="75000"/>
                  </a:schemeClr>
                </a:solidFill>
              </a:defRPr>
            </a:lvl2pPr>
            <a:lvl3pPr marL="912114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3pPr>
            <a:lvl4pPr marL="13681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4pPr>
            <a:lvl5pPr marL="1824228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5pPr>
            <a:lvl6pPr marL="2280285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6pPr>
            <a:lvl7pPr marL="2736342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7pPr>
            <a:lvl8pPr marL="3192399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8pPr>
            <a:lvl9pPr marL="3648456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464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024" y="1820976"/>
            <a:ext cx="5508149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177" y="1820976"/>
            <a:ext cx="5508149" cy="43402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10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2" y="364196"/>
            <a:ext cx="11178302" cy="1322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713" y="1676882"/>
            <a:ext cx="5482835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2713" y="2498697"/>
            <a:ext cx="5482835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61177" y="1676882"/>
            <a:ext cx="5509837" cy="821814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61177" y="2498697"/>
            <a:ext cx="5509837" cy="36752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18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4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7F7827-21D6-5054-F4C6-CF3F1E1A3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02204" y="0"/>
            <a:ext cx="1058146" cy="684053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9761A6D-E025-ED50-4287-24ECE36ED8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43" y="239405"/>
            <a:ext cx="894267" cy="31982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A0C2274-20E7-0C84-678A-7BC227870B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856488" y="124477"/>
            <a:ext cx="1574789" cy="68718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AA3578-2E3E-AC0A-C0A4-03BA169D6B14}"/>
              </a:ext>
            </a:extLst>
          </p:cNvPr>
          <p:cNvSpPr/>
          <p:nvPr userDrawn="1"/>
        </p:nvSpPr>
        <p:spPr>
          <a:xfrm>
            <a:off x="-3243" y="239405"/>
            <a:ext cx="894267" cy="319820"/>
          </a:xfrm>
          <a:prstGeom prst="rect">
            <a:avLst/>
          </a:prstGeom>
          <a:solidFill>
            <a:srgbClr val="BE00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19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456036"/>
            <a:ext cx="418005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9837" y="984911"/>
            <a:ext cx="6561177" cy="4861216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052161"/>
            <a:ext cx="418005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545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713" y="456036"/>
            <a:ext cx="4180050" cy="1596126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09837" y="984911"/>
            <a:ext cx="6561177" cy="4861216"/>
          </a:xfrm>
        </p:spPr>
        <p:txBody>
          <a:bodyPr anchor="t"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2713" y="2052161"/>
            <a:ext cx="4180050" cy="3801883"/>
          </a:xfrm>
        </p:spPr>
        <p:txBody>
          <a:bodyPr/>
          <a:lstStyle>
            <a:lvl1pPr marL="0" indent="0">
              <a:buNone/>
              <a:defRPr sz="1596"/>
            </a:lvl1pPr>
            <a:lvl2pPr marL="456057" indent="0">
              <a:buNone/>
              <a:defRPr sz="1397"/>
            </a:lvl2pPr>
            <a:lvl3pPr marL="912114" indent="0">
              <a:buNone/>
              <a:defRPr sz="1197"/>
            </a:lvl3pPr>
            <a:lvl4pPr marL="1368171" indent="0">
              <a:buNone/>
              <a:defRPr sz="998"/>
            </a:lvl4pPr>
            <a:lvl5pPr marL="1824228" indent="0">
              <a:buNone/>
              <a:defRPr sz="998"/>
            </a:lvl5pPr>
            <a:lvl6pPr marL="2280285" indent="0">
              <a:buNone/>
              <a:defRPr sz="998"/>
            </a:lvl6pPr>
            <a:lvl7pPr marL="2736342" indent="0">
              <a:buNone/>
              <a:defRPr sz="998"/>
            </a:lvl7pPr>
            <a:lvl8pPr marL="3192399" indent="0">
              <a:buNone/>
              <a:defRPr sz="998"/>
            </a:lvl8pPr>
            <a:lvl9pPr marL="3648456" indent="0">
              <a:buNone/>
              <a:defRPr sz="998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680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4751" y="364195"/>
            <a:ext cx="2794575" cy="579704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1024" y="364195"/>
            <a:ext cx="8221722" cy="579704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61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024" y="364196"/>
            <a:ext cx="11178302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024" y="1820976"/>
            <a:ext cx="11178302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1024" y="6340166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B2549-D5F9-604B-9EB9-69E1A6399CB9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3116" y="6340166"/>
            <a:ext cx="4374118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53247" y="6340166"/>
            <a:ext cx="2916079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4391C-B8C0-B24A-A837-316267417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260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2114" rtl="0" eaLnBrk="1" latinLnBrk="0" hangingPunct="1">
        <a:lnSpc>
          <a:spcPct val="90000"/>
        </a:lnSpc>
        <a:spcBef>
          <a:spcPct val="0"/>
        </a:spcBef>
        <a:buNone/>
        <a:defRPr sz="43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029" indent="-228029" algn="l" defTabSz="912114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3" kern="1200">
          <a:solidFill>
            <a:schemeClr val="tx1"/>
          </a:solidFill>
          <a:latin typeface="+mn-lt"/>
          <a:ea typeface="+mn-ea"/>
          <a:cs typeface="+mn-cs"/>
        </a:defRPr>
      </a:lvl1pPr>
      <a:lvl2pPr marL="684086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0143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200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257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314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371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428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485" indent="-228029" algn="l" defTabSz="91211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00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1650DA2-9DD9-C801-FC5D-C65322C76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280AF07-DD1E-10D4-3116-A6219A3795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760" y="329338"/>
            <a:ext cx="1862895" cy="8196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64B838-4872-43A7-3ECD-CEE1F87DE8B3}"/>
              </a:ext>
            </a:extLst>
          </p:cNvPr>
          <p:cNvSpPr txBox="1"/>
          <p:nvPr/>
        </p:nvSpPr>
        <p:spPr>
          <a:xfrm>
            <a:off x="1551867" y="2681605"/>
            <a:ext cx="9523570" cy="9848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ru-RU" sz="3200" b="0" i="0" dirty="0">
                <a:solidFill>
                  <a:srgbClr val="FFFFFF"/>
                </a:solidFill>
                <a:effectLst/>
                <a:latin typeface="system-ui"/>
              </a:rPr>
              <a:t>Инвестиционные возможности частных инвесторов на срочном рынке РФ</a:t>
            </a:r>
            <a:endParaRPr lang="ru-RU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E66A5-B7BB-4611-AD20-7791203ED1B1}"/>
              </a:ext>
            </a:extLst>
          </p:cNvPr>
          <p:cNvSpPr txBox="1"/>
          <p:nvPr/>
        </p:nvSpPr>
        <p:spPr>
          <a:xfrm>
            <a:off x="1551867" y="6113417"/>
            <a:ext cx="22468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Москва 2025</a:t>
            </a:r>
            <a:endParaRPr lang="en-US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4B838-4872-43A7-3ECD-CEE1F87DE8B3}"/>
              </a:ext>
            </a:extLst>
          </p:cNvPr>
          <p:cNvSpPr txBox="1"/>
          <p:nvPr/>
        </p:nvSpPr>
        <p:spPr>
          <a:xfrm>
            <a:off x="1522815" y="4401890"/>
            <a:ext cx="9523570" cy="43088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Автор: Ходжаев Валерий Манучехрович</a:t>
            </a:r>
          </a:p>
          <a:p>
            <a:r>
              <a:rPr lang="ru-RU" sz="1400" dirty="0">
                <a:solidFill>
                  <a:schemeClr val="bg1"/>
                </a:solidFill>
                <a:latin typeface="Arial"/>
                <a:cs typeface="Arial"/>
              </a:rPr>
              <a:t>Научный руководитель: Чернова Мария Игоревна</a:t>
            </a:r>
          </a:p>
        </p:txBody>
      </p:sp>
    </p:spTree>
    <p:extLst>
      <p:ext uri="{BB962C8B-B14F-4D97-AF65-F5344CB8AC3E}">
        <p14:creationId xmlns:p14="http://schemas.microsoft.com/office/powerpoint/2010/main" val="331720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17858" y="944529"/>
            <a:ext cx="6617132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825500"/>
            <a:r>
              <a:rPr lang="ru-RU" sz="3600" b="1" dirty="0">
                <a:solidFill>
                  <a:srgbClr val="BE003E"/>
                </a:solidFill>
                <a:latin typeface="Arial"/>
                <a:cs typeface="Arial"/>
              </a:rPr>
              <a:t>Актуальность исследования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679577" y="2082127"/>
            <a:ext cx="10637269" cy="2876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/>
              <a:t>Развитие рынка:</a:t>
            </a:r>
            <a:r>
              <a:rPr lang="ru-RU" sz="2000" dirty="0"/>
              <a:t> Российский срочный рынок активно развивается, появляются новые инструменты (фьючерсы на зарубежные ETF, бессрочные фьючерсы, </a:t>
            </a:r>
            <a:r>
              <a:rPr lang="en-US" sz="2000" dirty="0"/>
              <a:t>CDS, Cap/Floor</a:t>
            </a:r>
            <a:r>
              <a:rPr lang="ru-RU" sz="2000" dirty="0"/>
              <a:t>).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/>
              <a:t>Незрелость практик:</a:t>
            </a:r>
            <a:r>
              <a:rPr lang="ru-RU" sz="2000" dirty="0"/>
              <a:t> Отечественная литература характеризует рынок как незрелый с точки зрения хеджирования, отмечая его спекулятивный характер.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b="1" dirty="0"/>
              <a:t>Недостаточная изученность:</a:t>
            </a:r>
            <a:r>
              <a:rPr lang="ru-RU" sz="2000" dirty="0"/>
              <a:t> Потенциал деривативов для диверсификации портфеля и риск-корректировки доходности в новых условиях изучен слабо.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960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669567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Цель и задачи исследования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742141" y="2028470"/>
            <a:ext cx="11120995" cy="36456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/>
              <a:t>	Цель:</a:t>
            </a:r>
            <a:r>
              <a:rPr lang="ru-RU" sz="2000" dirty="0"/>
              <a:t> Комплексный анализ возможностей использования ПФИ частным инвестором на современном российском рынке.</a:t>
            </a:r>
          </a:p>
          <a:p>
            <a:pPr>
              <a:lnSpc>
                <a:spcPct val="150000"/>
              </a:lnSpc>
            </a:pPr>
            <a:r>
              <a:rPr lang="ru-RU" sz="2000" b="1" dirty="0"/>
              <a:t>	Задачи:</a:t>
            </a:r>
            <a:endParaRPr lang="ru-RU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Оценить эффект диверсификации инвестиционного портфеля за счет включения фьючерсов.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Проанализировать качество репликации фьючерсами Московской биржи динамики цен их зарубежных базовых активов (ETF).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Исследовать эффективность рынка бессрочных фьючерсов </a:t>
            </a:r>
            <a:r>
              <a:rPr lang="ru-RU" sz="2000" dirty="0" err="1"/>
              <a:t>МосБиржи</a:t>
            </a:r>
            <a:r>
              <a:rPr lang="ru-RU" sz="2000" dirty="0"/>
              <a:t> путем проверки соблюдения </a:t>
            </a:r>
            <a:r>
              <a:rPr lang="ru-RU" sz="2000" dirty="0" err="1"/>
              <a:t>безарбитражных</a:t>
            </a:r>
            <a:r>
              <a:rPr lang="ru-RU" sz="2000" dirty="0"/>
              <a:t> границ.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16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66028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712834" y="2034332"/>
            <a:ext cx="11120995" cy="22606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Использование фьючерсов для диверсификации обобщенного портфеля российских активов </a:t>
            </a:r>
          </a:p>
          <a:p>
            <a:pPr>
              <a:lnSpc>
                <a:spcPct val="150000"/>
              </a:lnSpc>
            </a:pPr>
            <a:r>
              <a:rPr lang="ru-RU" sz="2000" dirty="0"/>
              <a:t>увеличивает коэффициент Шарпа приблизительно в 1.6 раз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Российские фьючерсы на зарубежные </a:t>
            </a:r>
            <a:r>
              <a:rPr lang="en-US" sz="2000" dirty="0"/>
              <a:t>ETF</a:t>
            </a:r>
            <a:r>
              <a:rPr lang="ru-RU" sz="2000" dirty="0"/>
              <a:t> показывают хорошую репликацию цен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/>
              <a:t>Соотношение цен российских вечных фьючерсов и соответствующих им базовых активов находится внутри границ отсутствия арбитражных возможностей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5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6279989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Значимость исследования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742141" y="2028470"/>
            <a:ext cx="11120995" cy="31839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1" dirty="0"/>
              <a:t>Для инвесторов:</a:t>
            </a:r>
            <a:r>
              <a:rPr lang="ru-RU" sz="2000" dirty="0"/>
              <a:t> включение фьючерсов в портфель российских активов повышает риск‑скорректированную доходность (Шарп ≈ в 1,6 раза).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1" dirty="0"/>
              <a:t>Для практики доступа к зарубежной экспозиции:</a:t>
            </a:r>
            <a:r>
              <a:rPr lang="ru-RU" sz="2000" dirty="0"/>
              <a:t> фьючерсы на зарубежные </a:t>
            </a:r>
            <a:r>
              <a:rPr lang="en-US" sz="2000" dirty="0"/>
              <a:t>ETF </a:t>
            </a:r>
            <a:r>
              <a:rPr lang="ru-RU" sz="2000" dirty="0"/>
              <a:t>на российском рынке хорошо реплицируют базовые цены и могут служить их прокси.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1" dirty="0"/>
              <a:t>Для оценки эффективности рынка:</a:t>
            </a:r>
            <a:r>
              <a:rPr lang="ru-RU" sz="2000" dirty="0"/>
              <a:t> вечные фьючерсы в среднем торгуются в пределах </a:t>
            </a:r>
            <a:r>
              <a:rPr lang="ru-RU" sz="2000" dirty="0" err="1"/>
              <a:t>безарбитражных</a:t>
            </a:r>
            <a:r>
              <a:rPr lang="ru-RU" sz="2000" dirty="0"/>
              <a:t> границ относительно базовых активов, что подтверждает корректность ценообразования.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06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C1650DA2-9DD9-C801-FC5D-C65322C76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520" y="0"/>
            <a:ext cx="4189830" cy="68405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E64B838-4872-43A7-3ECD-CEE1F87DE8B3}"/>
              </a:ext>
            </a:extLst>
          </p:cNvPr>
          <p:cNvSpPr txBox="1"/>
          <p:nvPr/>
        </p:nvSpPr>
        <p:spPr>
          <a:xfrm>
            <a:off x="1564651" y="2592227"/>
            <a:ext cx="566038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3200" b="1" dirty="0">
                <a:solidFill>
                  <a:srgbClr val="4849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внимание!</a:t>
            </a:r>
            <a:endParaRPr lang="ru-RU" sz="3200" b="1" dirty="0">
              <a:solidFill>
                <a:srgbClr val="BE00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9B13A7-08E0-8CB3-E315-300BD9869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" y="329339"/>
            <a:ext cx="1862895" cy="82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68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8575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Приложение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4D925-F08B-D8B4-8DC2-EFF70BD6C46C}"/>
              </a:ext>
            </a:extLst>
          </p:cNvPr>
          <p:cNvSpPr txBox="1"/>
          <p:nvPr/>
        </p:nvSpPr>
        <p:spPr>
          <a:xfrm>
            <a:off x="742141" y="2028470"/>
            <a:ext cx="11120995" cy="4139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/>
              <a:t>	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4B39B6F-617B-8848-51A2-0CC9D50724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746825"/>
                  </p:ext>
                </p:extLst>
              </p:nvPr>
            </p:nvGraphicFramePr>
            <p:xfrm>
              <a:off x="301177" y="2145701"/>
              <a:ext cx="11486373" cy="106737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20875">
                      <a:extLst>
                        <a:ext uri="{9D8B030D-6E8A-4147-A177-3AD203B41FA5}">
                          <a16:colId xmlns:a16="http://schemas.microsoft.com/office/drawing/2014/main" val="2796519735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624752546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1523522903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2374588177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823178917"/>
                        </a:ext>
                      </a:extLst>
                    </a:gridCol>
                    <a:gridCol w="1162429">
                      <a:extLst>
                        <a:ext uri="{9D8B030D-6E8A-4147-A177-3AD203B41FA5}">
                          <a16:colId xmlns:a16="http://schemas.microsoft.com/office/drawing/2014/main" val="1382443018"/>
                        </a:ext>
                      </a:extLst>
                    </a:gridCol>
                    <a:gridCol w="1240079">
                      <a:extLst>
                        <a:ext uri="{9D8B030D-6E8A-4147-A177-3AD203B41FA5}">
                          <a16:colId xmlns:a16="http://schemas.microsoft.com/office/drawing/2014/main" val="2324504384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2446500062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3196621799"/>
                        </a:ext>
                      </a:extLst>
                    </a:gridCol>
                    <a:gridCol w="1015242">
                      <a:extLst>
                        <a:ext uri="{9D8B030D-6E8A-4147-A177-3AD203B41FA5}">
                          <a16:colId xmlns:a16="http://schemas.microsoft.com/office/drawing/2014/main" val="10516212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 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6"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Веса активов в портфеле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Статистика портфеля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353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Портфель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Si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Eu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BR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Gold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IMOEX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MREDC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</a:rPr>
                                  <m:t>𝑬</m:t>
                                </m:r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>
                                            <a:effectLst/>
                                          </a:rPr>
                                          <m:t>𝑽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effectLst/>
                                          </a:rPr>
                                          <m:t>𝑷</m:t>
                                        </m:r>
                                      </m:sub>
                                    </m:sSub>
                                  </m:e>
                                </m:rad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</a:rPr>
                                  <m:t>𝑺𝑹</m:t>
                                </m:r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175979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55,28%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44,72%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11,05%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24,20%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0,4567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010513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II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28,61%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19,07%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30,09%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22,23%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4,62%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12,64%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16,99%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 dirty="0">
                              <a:effectLst/>
                            </a:rPr>
                            <a:t>0,7440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6562473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C4B39B6F-617B-8848-51A2-0CC9D50724F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5746825"/>
                  </p:ext>
                </p:extLst>
              </p:nvPr>
            </p:nvGraphicFramePr>
            <p:xfrm>
              <a:off x="301177" y="2145701"/>
              <a:ext cx="11486373" cy="106737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20875">
                      <a:extLst>
                        <a:ext uri="{9D8B030D-6E8A-4147-A177-3AD203B41FA5}">
                          <a16:colId xmlns:a16="http://schemas.microsoft.com/office/drawing/2014/main" val="2796519735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624752546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1523522903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2374588177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823178917"/>
                        </a:ext>
                      </a:extLst>
                    </a:gridCol>
                    <a:gridCol w="1162429">
                      <a:extLst>
                        <a:ext uri="{9D8B030D-6E8A-4147-A177-3AD203B41FA5}">
                          <a16:colId xmlns:a16="http://schemas.microsoft.com/office/drawing/2014/main" val="1382443018"/>
                        </a:ext>
                      </a:extLst>
                    </a:gridCol>
                    <a:gridCol w="1240079">
                      <a:extLst>
                        <a:ext uri="{9D8B030D-6E8A-4147-A177-3AD203B41FA5}">
                          <a16:colId xmlns:a16="http://schemas.microsoft.com/office/drawing/2014/main" val="2324504384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2446500062"/>
                        </a:ext>
                      </a:extLst>
                    </a:gridCol>
                    <a:gridCol w="1107958">
                      <a:extLst>
                        <a:ext uri="{9D8B030D-6E8A-4147-A177-3AD203B41FA5}">
                          <a16:colId xmlns:a16="http://schemas.microsoft.com/office/drawing/2014/main" val="3196621799"/>
                        </a:ext>
                      </a:extLst>
                    </a:gridCol>
                    <a:gridCol w="1015242">
                      <a:extLst>
                        <a:ext uri="{9D8B030D-6E8A-4147-A177-3AD203B41FA5}">
                          <a16:colId xmlns:a16="http://schemas.microsoft.com/office/drawing/2014/main" val="1051621218"/>
                        </a:ext>
                      </a:extLst>
                    </a:gridCol>
                  </a:tblGrid>
                  <a:tr h="245047"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 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6"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Веса активов в портфеле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Статистика портфеля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235308"/>
                      </a:ext>
                    </a:extLst>
                  </a:tr>
                  <a:tr h="332232"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Портфель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Si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Eu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BR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Gold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IMOEX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MREDC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739773" t="-76923" r="-192045" b="-1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49425" t="-76923" r="-94253" b="-1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32500" t="-76923" r="-2500" b="-18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7597926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55,28%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44,72%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11,05%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24,20%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0,4567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01051371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II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28,61%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19,07%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30,09%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0,00%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22,23%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4,62%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12,64%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16,99%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just">
                            <a:lnSpc>
                              <a:spcPct val="150000"/>
                            </a:lnSpc>
                          </a:pPr>
                          <a:r>
                            <a:rPr lang="en-US" sz="1200" dirty="0">
                              <a:effectLst/>
                            </a:rPr>
                            <a:t>0,7440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656247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45E1A4-79C7-CC3D-1BA0-B760F6CE12A2}"/>
              </a:ext>
            </a:extLst>
          </p:cNvPr>
          <p:cNvSpPr txBox="1"/>
          <p:nvPr/>
        </p:nvSpPr>
        <p:spPr>
          <a:xfrm>
            <a:off x="1097214" y="1659138"/>
            <a:ext cx="7210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1. Диверсификация портфеля активов при помощи фьючерсов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58C205B-B36B-583F-FE1C-88554B0D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731" y="3934299"/>
            <a:ext cx="2696210" cy="200850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211B79-F24F-2361-FB30-4D7FE7544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224" y="3918547"/>
            <a:ext cx="2696210" cy="2001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6A29AE-7B84-CC77-1110-B7413F5BC9DE}"/>
              </a:ext>
            </a:extLst>
          </p:cNvPr>
          <p:cNvSpPr txBox="1"/>
          <p:nvPr/>
        </p:nvSpPr>
        <p:spPr>
          <a:xfrm>
            <a:off x="3603534" y="3389020"/>
            <a:ext cx="4881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1. Множество эффективных портфелей</a:t>
            </a:r>
          </a:p>
        </p:txBody>
      </p:sp>
    </p:spTree>
    <p:extLst>
      <p:ext uri="{BB962C8B-B14F-4D97-AF65-F5344CB8AC3E}">
        <p14:creationId xmlns:p14="http://schemas.microsoft.com/office/powerpoint/2010/main" val="1534805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8575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Приложение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B108001E-3CA9-CEC6-073D-41CA71DDD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6100643"/>
                  </p:ext>
                </p:extLst>
              </p:nvPr>
            </p:nvGraphicFramePr>
            <p:xfrm>
              <a:off x="222983" y="2208351"/>
              <a:ext cx="12514384" cy="317379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3754">
                      <a:extLst>
                        <a:ext uri="{9D8B030D-6E8A-4147-A177-3AD203B41FA5}">
                          <a16:colId xmlns:a16="http://schemas.microsoft.com/office/drawing/2014/main" val="2330792665"/>
                        </a:ext>
                      </a:extLst>
                    </a:gridCol>
                    <a:gridCol w="858397">
                      <a:extLst>
                        <a:ext uri="{9D8B030D-6E8A-4147-A177-3AD203B41FA5}">
                          <a16:colId xmlns:a16="http://schemas.microsoft.com/office/drawing/2014/main" val="1406807772"/>
                        </a:ext>
                      </a:extLst>
                    </a:gridCol>
                    <a:gridCol w="859736">
                      <a:extLst>
                        <a:ext uri="{9D8B030D-6E8A-4147-A177-3AD203B41FA5}">
                          <a16:colId xmlns:a16="http://schemas.microsoft.com/office/drawing/2014/main" val="82682364"/>
                        </a:ext>
                      </a:extLst>
                    </a:gridCol>
                    <a:gridCol w="859736">
                      <a:extLst>
                        <a:ext uri="{9D8B030D-6E8A-4147-A177-3AD203B41FA5}">
                          <a16:colId xmlns:a16="http://schemas.microsoft.com/office/drawing/2014/main" val="1546669325"/>
                        </a:ext>
                      </a:extLst>
                    </a:gridCol>
                    <a:gridCol w="968208">
                      <a:extLst>
                        <a:ext uri="{9D8B030D-6E8A-4147-A177-3AD203B41FA5}">
                          <a16:colId xmlns:a16="http://schemas.microsoft.com/office/drawing/2014/main" val="4061652319"/>
                        </a:ext>
                      </a:extLst>
                    </a:gridCol>
                    <a:gridCol w="1211386">
                      <a:extLst>
                        <a:ext uri="{9D8B030D-6E8A-4147-A177-3AD203B41FA5}">
                          <a16:colId xmlns:a16="http://schemas.microsoft.com/office/drawing/2014/main" val="1335236109"/>
                        </a:ext>
                      </a:extLst>
                    </a:gridCol>
                    <a:gridCol w="1706629">
                      <a:extLst>
                        <a:ext uri="{9D8B030D-6E8A-4147-A177-3AD203B41FA5}">
                          <a16:colId xmlns:a16="http://schemas.microsoft.com/office/drawing/2014/main" val="801143987"/>
                        </a:ext>
                      </a:extLst>
                    </a:gridCol>
                    <a:gridCol w="1111496">
                      <a:extLst>
                        <a:ext uri="{9D8B030D-6E8A-4147-A177-3AD203B41FA5}">
                          <a16:colId xmlns:a16="http://schemas.microsoft.com/office/drawing/2014/main" val="824413048"/>
                        </a:ext>
                      </a:extLst>
                    </a:gridCol>
                    <a:gridCol w="1039183">
                      <a:extLst>
                        <a:ext uri="{9D8B030D-6E8A-4147-A177-3AD203B41FA5}">
                          <a16:colId xmlns:a16="http://schemas.microsoft.com/office/drawing/2014/main" val="1065710072"/>
                        </a:ext>
                      </a:extLst>
                    </a:gridCol>
                    <a:gridCol w="1078017">
                      <a:extLst>
                        <a:ext uri="{9D8B030D-6E8A-4147-A177-3AD203B41FA5}">
                          <a16:colId xmlns:a16="http://schemas.microsoft.com/office/drawing/2014/main" val="463172718"/>
                        </a:ext>
                      </a:extLst>
                    </a:gridCol>
                    <a:gridCol w="859736">
                      <a:extLst>
                        <a:ext uri="{9D8B030D-6E8A-4147-A177-3AD203B41FA5}">
                          <a16:colId xmlns:a16="http://schemas.microsoft.com/office/drawing/2014/main" val="2030263242"/>
                        </a:ext>
                      </a:extLst>
                    </a:gridCol>
                    <a:gridCol w="1098106">
                      <a:extLst>
                        <a:ext uri="{9D8B030D-6E8A-4147-A177-3AD203B41FA5}">
                          <a16:colId xmlns:a16="http://schemas.microsoft.com/office/drawing/2014/main" val="275957647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 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7"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Веса активов в портфеле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Статистика портфеля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3149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BR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Gold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IMOEX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MREDC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RGBI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200">
                                    <a:effectLst/>
                                  </a:rPr>
                                  <m:t>𝔼</m:t>
                                </m:r>
                                <m:r>
                                  <a:rPr lang="ru-RU" sz="1200">
                                    <a:effectLst/>
                                  </a:rPr>
                                  <m:t>[</m:t>
                                </m:r>
                                <m:r>
                                  <a:rPr lang="ru-RU" sz="1200">
                                    <a:effectLst/>
                                  </a:rPr>
                                  <m:t>𝑼</m:t>
                                </m:r>
                                <m:r>
                                  <a:rPr lang="ru-RU" sz="1200">
                                    <a:effectLst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</a:rPr>
                                  <m:t>𝑬</m:t>
                                </m:r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>
                                        <a:effectLst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1200">
                                        <a:effectLst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>
                                            <a:effectLst/>
                                          </a:rPr>
                                          <m:t>𝑽</m:t>
                                        </m:r>
                                      </m:e>
                                      <m:sub>
                                        <m:r>
                                          <a:rPr lang="en-US" sz="1200">
                                            <a:effectLst/>
                                          </a:rPr>
                                          <m:t>𝑷</m:t>
                                        </m:r>
                                      </m:sub>
                                    </m:sSub>
                                  </m:e>
                                </m:rad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</a:rPr>
                                  <m:t>𝑺𝑹</m:t>
                                </m:r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687837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0,55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0,45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0,46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232092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0,74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83871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0,51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2680178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0,68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1,44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42854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0,76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1,98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32308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B108001E-3CA9-CEC6-073D-41CA71DDDA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6100643"/>
                  </p:ext>
                </p:extLst>
              </p:nvPr>
            </p:nvGraphicFramePr>
            <p:xfrm>
              <a:off x="222983" y="2208351"/>
              <a:ext cx="12514384" cy="317379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3754">
                      <a:extLst>
                        <a:ext uri="{9D8B030D-6E8A-4147-A177-3AD203B41FA5}">
                          <a16:colId xmlns:a16="http://schemas.microsoft.com/office/drawing/2014/main" val="2330792665"/>
                        </a:ext>
                      </a:extLst>
                    </a:gridCol>
                    <a:gridCol w="858397">
                      <a:extLst>
                        <a:ext uri="{9D8B030D-6E8A-4147-A177-3AD203B41FA5}">
                          <a16:colId xmlns:a16="http://schemas.microsoft.com/office/drawing/2014/main" val="1406807772"/>
                        </a:ext>
                      </a:extLst>
                    </a:gridCol>
                    <a:gridCol w="859736">
                      <a:extLst>
                        <a:ext uri="{9D8B030D-6E8A-4147-A177-3AD203B41FA5}">
                          <a16:colId xmlns:a16="http://schemas.microsoft.com/office/drawing/2014/main" val="82682364"/>
                        </a:ext>
                      </a:extLst>
                    </a:gridCol>
                    <a:gridCol w="859736">
                      <a:extLst>
                        <a:ext uri="{9D8B030D-6E8A-4147-A177-3AD203B41FA5}">
                          <a16:colId xmlns:a16="http://schemas.microsoft.com/office/drawing/2014/main" val="1546669325"/>
                        </a:ext>
                      </a:extLst>
                    </a:gridCol>
                    <a:gridCol w="968208">
                      <a:extLst>
                        <a:ext uri="{9D8B030D-6E8A-4147-A177-3AD203B41FA5}">
                          <a16:colId xmlns:a16="http://schemas.microsoft.com/office/drawing/2014/main" val="4061652319"/>
                        </a:ext>
                      </a:extLst>
                    </a:gridCol>
                    <a:gridCol w="1211386">
                      <a:extLst>
                        <a:ext uri="{9D8B030D-6E8A-4147-A177-3AD203B41FA5}">
                          <a16:colId xmlns:a16="http://schemas.microsoft.com/office/drawing/2014/main" val="1335236109"/>
                        </a:ext>
                      </a:extLst>
                    </a:gridCol>
                    <a:gridCol w="1706629">
                      <a:extLst>
                        <a:ext uri="{9D8B030D-6E8A-4147-A177-3AD203B41FA5}">
                          <a16:colId xmlns:a16="http://schemas.microsoft.com/office/drawing/2014/main" val="801143987"/>
                        </a:ext>
                      </a:extLst>
                    </a:gridCol>
                    <a:gridCol w="1111496">
                      <a:extLst>
                        <a:ext uri="{9D8B030D-6E8A-4147-A177-3AD203B41FA5}">
                          <a16:colId xmlns:a16="http://schemas.microsoft.com/office/drawing/2014/main" val="824413048"/>
                        </a:ext>
                      </a:extLst>
                    </a:gridCol>
                    <a:gridCol w="1039183">
                      <a:extLst>
                        <a:ext uri="{9D8B030D-6E8A-4147-A177-3AD203B41FA5}">
                          <a16:colId xmlns:a16="http://schemas.microsoft.com/office/drawing/2014/main" val="1065710072"/>
                        </a:ext>
                      </a:extLst>
                    </a:gridCol>
                    <a:gridCol w="1078017">
                      <a:extLst>
                        <a:ext uri="{9D8B030D-6E8A-4147-A177-3AD203B41FA5}">
                          <a16:colId xmlns:a16="http://schemas.microsoft.com/office/drawing/2014/main" val="463172718"/>
                        </a:ext>
                      </a:extLst>
                    </a:gridCol>
                    <a:gridCol w="859736">
                      <a:extLst>
                        <a:ext uri="{9D8B030D-6E8A-4147-A177-3AD203B41FA5}">
                          <a16:colId xmlns:a16="http://schemas.microsoft.com/office/drawing/2014/main" val="2030263242"/>
                        </a:ext>
                      </a:extLst>
                    </a:gridCol>
                    <a:gridCol w="1098106">
                      <a:extLst>
                        <a:ext uri="{9D8B030D-6E8A-4147-A177-3AD203B41FA5}">
                          <a16:colId xmlns:a16="http://schemas.microsoft.com/office/drawing/2014/main" val="2759576474"/>
                        </a:ext>
                      </a:extLst>
                    </a:gridCol>
                  </a:tblGrid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 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gridSpan="7"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Веса активов в портфеле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Статистика портфеля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3149454"/>
                      </a:ext>
                    </a:extLst>
                  </a:tr>
                  <a:tr h="332232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BR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Gold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IMOEX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MREDC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RGBI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12195" t="-70370" r="-295122" b="-7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880000" t="-70370" r="-184706" b="-7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243284" t="-70370" r="-134328" b="-7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34483" t="-70370" r="-3448" b="-788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8783702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0,55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0,45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0,46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23209231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0,74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38838719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0,51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26801784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0,10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0,68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1,44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94285427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A=4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0,76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1,98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32308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65ECDE2-9FC1-82C6-6AA2-05A078FD336C}"/>
              </a:ext>
            </a:extLst>
          </p:cNvPr>
          <p:cNvSpPr txBox="1"/>
          <p:nvPr/>
        </p:nvSpPr>
        <p:spPr>
          <a:xfrm>
            <a:off x="1097214" y="1659138"/>
            <a:ext cx="9705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2. Портфель </a:t>
            </a:r>
            <a:r>
              <a:rPr lang="en-US" dirty="0"/>
              <a:t>II </a:t>
            </a:r>
            <a:r>
              <a:rPr lang="ru-RU" dirty="0"/>
              <a:t>в комбинации с безрисковым активом для разных профилей инвесторов </a:t>
            </a:r>
          </a:p>
        </p:txBody>
      </p:sp>
    </p:spTree>
    <p:extLst>
      <p:ext uri="{BB962C8B-B14F-4D97-AF65-F5344CB8AC3E}">
        <p14:creationId xmlns:p14="http://schemas.microsoft.com/office/powerpoint/2010/main" val="416386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8575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Приложение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ECC38E-779C-0614-6D60-F1D3BFDD9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78" y="1812986"/>
            <a:ext cx="5940425" cy="16541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833C87-7494-54D5-91C4-C19DB4943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77" y="3420269"/>
            <a:ext cx="5940425" cy="1651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968172-804E-4DF9-B31E-A9D1BF7F5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76" y="5050815"/>
            <a:ext cx="5940425" cy="16681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3E040C-1345-F34C-D70A-884042FE5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175" y="1780064"/>
            <a:ext cx="5940425" cy="16402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3FE4D2D-A701-06E5-4ACB-379DD10B8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175" y="3397910"/>
            <a:ext cx="5940425" cy="165290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31FCFBE-7B56-4A73-93CE-26ED19562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175" y="5038115"/>
            <a:ext cx="5940425" cy="1624965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1B142CD7-81C0-D938-72B3-017C4A659C91}"/>
              </a:ext>
            </a:extLst>
          </p:cNvPr>
          <p:cNvCxnSpPr/>
          <p:nvPr/>
        </p:nvCxnSpPr>
        <p:spPr>
          <a:xfrm>
            <a:off x="6394938" y="1780064"/>
            <a:ext cx="0" cy="4749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BB29C8-0B3F-7530-F8AC-D31380B9DBB1}"/>
              </a:ext>
            </a:extLst>
          </p:cNvPr>
          <p:cNvSpPr txBox="1"/>
          <p:nvPr/>
        </p:nvSpPr>
        <p:spPr>
          <a:xfrm>
            <a:off x="927485" y="1403246"/>
            <a:ext cx="10862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2. Динамика цен и лог-доходностей зарубежных </a:t>
            </a:r>
            <a:r>
              <a:rPr lang="en-US" dirty="0"/>
              <a:t>ETF </a:t>
            </a:r>
            <a:r>
              <a:rPr lang="ru-RU" dirty="0"/>
              <a:t>и соответствующих им российский фьючерсов </a:t>
            </a:r>
          </a:p>
        </p:txBody>
      </p:sp>
    </p:spTree>
    <p:extLst>
      <p:ext uri="{BB962C8B-B14F-4D97-AF65-F5344CB8AC3E}">
        <p14:creationId xmlns:p14="http://schemas.microsoft.com/office/powerpoint/2010/main" val="357882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8575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Приложение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065B0193-4BD4-8241-DD1F-FF54AE9FB7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7987951"/>
                  </p:ext>
                </p:extLst>
              </p:nvPr>
            </p:nvGraphicFramePr>
            <p:xfrm>
              <a:off x="2903539" y="1842152"/>
              <a:ext cx="5934075" cy="198964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3360">
                      <a:extLst>
                        <a:ext uri="{9D8B030D-6E8A-4147-A177-3AD203B41FA5}">
                          <a16:colId xmlns:a16="http://schemas.microsoft.com/office/drawing/2014/main" val="1792260428"/>
                        </a:ext>
                      </a:extLst>
                    </a:gridCol>
                    <a:gridCol w="1483360">
                      <a:extLst>
                        <a:ext uri="{9D8B030D-6E8A-4147-A177-3AD203B41FA5}">
                          <a16:colId xmlns:a16="http://schemas.microsoft.com/office/drawing/2014/main" val="3172810642"/>
                        </a:ext>
                      </a:extLst>
                    </a:gridCol>
                    <a:gridCol w="1483360">
                      <a:extLst>
                        <a:ext uri="{9D8B030D-6E8A-4147-A177-3AD203B41FA5}">
                          <a16:colId xmlns:a16="http://schemas.microsoft.com/office/drawing/2014/main" val="2107662178"/>
                        </a:ext>
                      </a:extLst>
                    </a:gridCol>
                    <a:gridCol w="1483995">
                      <a:extLst>
                        <a:ext uri="{9D8B030D-6E8A-4147-A177-3AD203B41FA5}">
                          <a16:colId xmlns:a16="http://schemas.microsoft.com/office/drawing/2014/main" val="34609875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200">
                                        <a:effectLst/>
                                      </a:rPr>
                                      <m:t>𝝆</m:t>
                                    </m:r>
                                  </m:e>
                                  <m:sub>
                                    <m:r>
                                      <a:rPr lang="ru-RU" sz="1200">
                                        <a:effectLst/>
                                      </a:rPr>
                                      <m:t>𝒔𝒑𝒐𝒕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200">
                                        <a:effectLst/>
                                      </a:rPr>
                                      <m:t>𝝆</m:t>
                                    </m:r>
                                  </m:e>
                                  <m:sub>
                                    <m:r>
                                      <a:rPr lang="ru-RU" sz="1200">
                                        <a:effectLst/>
                                      </a:rPr>
                                      <m:t>𝒍𝒐𝒈𝑹𝒆𝒕𝒖𝒓𝒏𝒔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336089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9957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0.4363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141270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9979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4986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72362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9942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7181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908078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9990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8829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4953841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1329.T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0,9900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5213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2153864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9795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0</a:t>
                          </a:r>
                          <a:r>
                            <a:rPr lang="en-US" sz="1200" dirty="0">
                              <a:effectLst/>
                            </a:rPr>
                            <a:t>,</a:t>
                          </a:r>
                          <a:r>
                            <a:rPr lang="ru-RU" sz="1200" dirty="0">
                              <a:effectLst/>
                            </a:rPr>
                            <a:t>2257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516701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065B0193-4BD4-8241-DD1F-FF54AE9FB7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7987951"/>
                  </p:ext>
                </p:extLst>
              </p:nvPr>
            </p:nvGraphicFramePr>
            <p:xfrm>
              <a:off x="2903539" y="1842152"/>
              <a:ext cx="5934075" cy="198964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3360">
                      <a:extLst>
                        <a:ext uri="{9D8B030D-6E8A-4147-A177-3AD203B41FA5}">
                          <a16:colId xmlns:a16="http://schemas.microsoft.com/office/drawing/2014/main" val="1792260428"/>
                        </a:ext>
                      </a:extLst>
                    </a:gridCol>
                    <a:gridCol w="1483360">
                      <a:extLst>
                        <a:ext uri="{9D8B030D-6E8A-4147-A177-3AD203B41FA5}">
                          <a16:colId xmlns:a16="http://schemas.microsoft.com/office/drawing/2014/main" val="3172810642"/>
                        </a:ext>
                      </a:extLst>
                    </a:gridCol>
                    <a:gridCol w="1483360">
                      <a:extLst>
                        <a:ext uri="{9D8B030D-6E8A-4147-A177-3AD203B41FA5}">
                          <a16:colId xmlns:a16="http://schemas.microsoft.com/office/drawing/2014/main" val="2107662178"/>
                        </a:ext>
                      </a:extLst>
                    </a:gridCol>
                    <a:gridCol w="1483995">
                      <a:extLst>
                        <a:ext uri="{9D8B030D-6E8A-4147-A177-3AD203B41FA5}">
                          <a16:colId xmlns:a16="http://schemas.microsoft.com/office/drawing/2014/main" val="3460987504"/>
                        </a:ext>
                      </a:extLst>
                    </a:gridCol>
                  </a:tblGrid>
                  <a:tr h="51936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0000" t="-2439" r="-10170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000" t="-2439" r="-1709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33608970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9957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0.4363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14127035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9979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4986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7236252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9942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7181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90807898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9990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8829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49538411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1329.T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0,9900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5213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21538642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9795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0</a:t>
                          </a:r>
                          <a:r>
                            <a:rPr lang="en-US" sz="1200" dirty="0">
                              <a:effectLst/>
                            </a:rPr>
                            <a:t>,</a:t>
                          </a:r>
                          <a:r>
                            <a:rPr lang="ru-RU" sz="1200" dirty="0">
                              <a:effectLst/>
                            </a:rPr>
                            <a:t>2257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5167012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97DF92FF-E7EA-56DC-A096-71A0F1944C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4377130"/>
                  </p:ext>
                </p:extLst>
              </p:nvPr>
            </p:nvGraphicFramePr>
            <p:xfrm>
              <a:off x="2903538" y="4623715"/>
              <a:ext cx="5934075" cy="198964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3360">
                      <a:extLst>
                        <a:ext uri="{9D8B030D-6E8A-4147-A177-3AD203B41FA5}">
                          <a16:colId xmlns:a16="http://schemas.microsoft.com/office/drawing/2014/main" val="3387778871"/>
                        </a:ext>
                      </a:extLst>
                    </a:gridCol>
                    <a:gridCol w="1483360">
                      <a:extLst>
                        <a:ext uri="{9D8B030D-6E8A-4147-A177-3AD203B41FA5}">
                          <a16:colId xmlns:a16="http://schemas.microsoft.com/office/drawing/2014/main" val="1856505463"/>
                        </a:ext>
                      </a:extLst>
                    </a:gridCol>
                    <a:gridCol w="1483360">
                      <a:extLst>
                        <a:ext uri="{9D8B030D-6E8A-4147-A177-3AD203B41FA5}">
                          <a16:colId xmlns:a16="http://schemas.microsoft.com/office/drawing/2014/main" val="523620373"/>
                        </a:ext>
                      </a:extLst>
                    </a:gridCol>
                    <a:gridCol w="1483995">
                      <a:extLst>
                        <a:ext uri="{9D8B030D-6E8A-4147-A177-3AD203B41FA5}">
                          <a16:colId xmlns:a16="http://schemas.microsoft.com/office/drawing/2014/main" val="63143112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>
                                    <a:effectLst/>
                                  </a:rPr>
                                  <m:t>𝒑𝑽𝒂𝒍𝒖𝒆</m:t>
                                </m:r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ru-RU" sz="1200">
                                  <a:effectLst/>
                                </a:rPr>
                                <m:t>𝒓</m:t>
                              </m:r>
                            </m:oMath>
                          </a14:m>
                          <a:r>
                            <a:rPr lang="en-US" sz="1200">
                              <a:effectLst/>
                            </a:rPr>
                            <a:t>*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182093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0,035723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608282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014134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94698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000881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371874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000002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2947968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1329.T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018624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7174911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030770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1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619401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>
                <a:extLst>
                  <a:ext uri="{FF2B5EF4-FFF2-40B4-BE49-F238E27FC236}">
                    <a16:creationId xmlns:a16="http://schemas.microsoft.com/office/drawing/2014/main" id="{97DF92FF-E7EA-56DC-A096-71A0F1944C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4377130"/>
                  </p:ext>
                </p:extLst>
              </p:nvPr>
            </p:nvGraphicFramePr>
            <p:xfrm>
              <a:off x="2903538" y="4623715"/>
              <a:ext cx="5934075" cy="198964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3360">
                      <a:extLst>
                        <a:ext uri="{9D8B030D-6E8A-4147-A177-3AD203B41FA5}">
                          <a16:colId xmlns:a16="http://schemas.microsoft.com/office/drawing/2014/main" val="3387778871"/>
                        </a:ext>
                      </a:extLst>
                    </a:gridCol>
                    <a:gridCol w="1483360">
                      <a:extLst>
                        <a:ext uri="{9D8B030D-6E8A-4147-A177-3AD203B41FA5}">
                          <a16:colId xmlns:a16="http://schemas.microsoft.com/office/drawing/2014/main" val="1856505463"/>
                        </a:ext>
                      </a:extLst>
                    </a:gridCol>
                    <a:gridCol w="1483360">
                      <a:extLst>
                        <a:ext uri="{9D8B030D-6E8A-4147-A177-3AD203B41FA5}">
                          <a16:colId xmlns:a16="http://schemas.microsoft.com/office/drawing/2014/main" val="523620373"/>
                        </a:ext>
                      </a:extLst>
                    </a:gridCol>
                    <a:gridCol w="1483995">
                      <a:extLst>
                        <a:ext uri="{9D8B030D-6E8A-4147-A177-3AD203B41FA5}">
                          <a16:colId xmlns:a16="http://schemas.microsoft.com/office/drawing/2014/main" val="631431125"/>
                        </a:ext>
                      </a:extLst>
                    </a:gridCol>
                  </a:tblGrid>
                  <a:tr h="51936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0000" t="-2439" r="-10170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00000" t="-2439" r="-1709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8209361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0,035723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60828223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014134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9469809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000881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37187477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000002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29479680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1329.T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018624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671749119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</a:t>
                          </a:r>
                          <a:r>
                            <a:rPr lang="en-US" sz="1200">
                              <a:effectLst/>
                            </a:rPr>
                            <a:t>,</a:t>
                          </a:r>
                          <a:r>
                            <a:rPr lang="ru-RU" sz="1200">
                              <a:effectLst/>
                            </a:rPr>
                            <a:t>030770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1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619401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428CB34-BA5E-3C4E-E51B-DE8A72D32E8D}"/>
              </a:ext>
            </a:extLst>
          </p:cNvPr>
          <p:cNvSpPr txBox="1"/>
          <p:nvPr/>
        </p:nvSpPr>
        <p:spPr>
          <a:xfrm>
            <a:off x="2515707" y="1398253"/>
            <a:ext cx="693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3. Статистики зарубежных активов и российских фьючерсов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7CC43-70D1-40AB-A301-17AC77C58BF6}"/>
              </a:ext>
            </a:extLst>
          </p:cNvPr>
          <p:cNvSpPr txBox="1"/>
          <p:nvPr/>
        </p:nvSpPr>
        <p:spPr>
          <a:xfrm>
            <a:off x="2515707" y="4147314"/>
            <a:ext cx="702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4. Результаты теста </a:t>
            </a:r>
            <a:r>
              <a:rPr lang="ru-RU" dirty="0" err="1"/>
              <a:t>Энгла-Грейнджера</a:t>
            </a:r>
            <a:r>
              <a:rPr lang="ru-RU" dirty="0"/>
              <a:t> на </a:t>
            </a:r>
            <a:r>
              <a:rPr lang="ru-RU" dirty="0" err="1"/>
              <a:t>коинтеграцию</a:t>
            </a:r>
            <a:r>
              <a:rPr lang="ru-RU" dirty="0"/>
              <a:t> цен </a:t>
            </a:r>
          </a:p>
        </p:txBody>
      </p:sp>
    </p:spTree>
    <p:extLst>
      <p:ext uri="{BB962C8B-B14F-4D97-AF65-F5344CB8AC3E}">
        <p14:creationId xmlns:p14="http://schemas.microsoft.com/office/powerpoint/2010/main" val="2178636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8575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Приложение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DC0DD5F2-2976-2A6F-5094-8AD56F85E9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776387"/>
                  </p:ext>
                </p:extLst>
              </p:nvPr>
            </p:nvGraphicFramePr>
            <p:xfrm>
              <a:off x="2356242" y="1808154"/>
              <a:ext cx="7125555" cy="281241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8024">
                      <a:extLst>
                        <a:ext uri="{9D8B030D-6E8A-4147-A177-3AD203B41FA5}">
                          <a16:colId xmlns:a16="http://schemas.microsoft.com/office/drawing/2014/main" val="716605748"/>
                        </a:ext>
                      </a:extLst>
                    </a:gridCol>
                    <a:gridCol w="1011074">
                      <a:extLst>
                        <a:ext uri="{9D8B030D-6E8A-4147-A177-3AD203B41FA5}">
                          <a16:colId xmlns:a16="http://schemas.microsoft.com/office/drawing/2014/main" val="2908911557"/>
                        </a:ext>
                      </a:extLst>
                    </a:gridCol>
                    <a:gridCol w="992774">
                      <a:extLst>
                        <a:ext uri="{9D8B030D-6E8A-4147-A177-3AD203B41FA5}">
                          <a16:colId xmlns:a16="http://schemas.microsoft.com/office/drawing/2014/main" val="1355714310"/>
                        </a:ext>
                      </a:extLst>
                    </a:gridCol>
                    <a:gridCol w="979049">
                      <a:extLst>
                        <a:ext uri="{9D8B030D-6E8A-4147-A177-3AD203B41FA5}">
                          <a16:colId xmlns:a16="http://schemas.microsoft.com/office/drawing/2014/main" val="1775614043"/>
                        </a:ext>
                      </a:extLst>
                    </a:gridCol>
                    <a:gridCol w="1082749">
                      <a:extLst>
                        <a:ext uri="{9D8B030D-6E8A-4147-A177-3AD203B41FA5}">
                          <a16:colId xmlns:a16="http://schemas.microsoft.com/office/drawing/2014/main" val="2056857473"/>
                        </a:ext>
                      </a:extLst>
                    </a:gridCol>
                    <a:gridCol w="1072836">
                      <a:extLst>
                        <a:ext uri="{9D8B030D-6E8A-4147-A177-3AD203B41FA5}">
                          <a16:colId xmlns:a16="http://schemas.microsoft.com/office/drawing/2014/main" val="2870519628"/>
                        </a:ext>
                      </a:extLst>
                    </a:gridCol>
                    <a:gridCol w="979049">
                      <a:extLst>
                        <a:ext uri="{9D8B030D-6E8A-4147-A177-3AD203B41FA5}">
                          <a16:colId xmlns:a16="http://schemas.microsoft.com/office/drawing/2014/main" val="15616640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>
                                            <a:effectLst/>
                                          </a:rPr>
                                          <m:t>α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r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>
                                            <a:effectLst/>
                                          </a:rPr>
                                          <m:t>β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r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effectLst/>
                                  </a:rPr>
                                  <m:t>pValue</m:t>
                                </m:r>
                                <m:r>
                                  <a:rPr lang="en-US" sz="1200">
                                    <a:effectLst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>
                                            <a:effectLst/>
                                          </a:rPr>
                                          <m:t>α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r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effectLst/>
                                  </a:rPr>
                                  <m:t>pValue</m:t>
                                </m:r>
                                <m:r>
                                  <a:rPr lang="en-US" sz="1200">
                                    <a:effectLst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>
                                            <a:effectLst/>
                                          </a:rPr>
                                          <m:t>β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r</m:t>
                                    </m:r>
                                  </m:sub>
                                </m:sSub>
                                <m:r>
                                  <a:rPr lang="en-US" sz="1200">
                                    <a:effectLst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R</m:t>
                                    </m:r>
                                  </m:e>
                                  <m:sup>
                                    <m:r>
                                      <a:rPr lang="en-US" sz="1200">
                                        <a:effectLst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028967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36,31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056913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8,24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873508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</a:t>
                          </a:r>
                          <a:r>
                            <a:rPr lang="en-US" sz="1200">
                              <a:effectLst/>
                            </a:rPr>
                            <a:t>.</a:t>
                          </a:r>
                          <a:r>
                            <a:rPr lang="ru-RU" sz="1200">
                              <a:effectLst/>
                            </a:rPr>
                            <a:t>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5,30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797681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</a:t>
                          </a:r>
                          <a:r>
                            <a:rPr lang="en-US" sz="1200">
                              <a:effectLst/>
                            </a:rPr>
                            <a:t>.</a:t>
                          </a:r>
                          <a:r>
                            <a:rPr lang="ru-RU" sz="1200">
                              <a:effectLst/>
                            </a:rPr>
                            <a:t>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-2,24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743214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</a:t>
                          </a:r>
                          <a:r>
                            <a:rPr lang="en-US" sz="1200">
                              <a:effectLst/>
                            </a:rPr>
                            <a:t>.</a:t>
                          </a:r>
                          <a:r>
                            <a:rPr lang="ru-RU" sz="1200">
                              <a:effectLst/>
                            </a:rPr>
                            <a:t>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311,64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650974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47,31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0,96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90675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DC0DD5F2-2976-2A6F-5094-8AD56F85E9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6776387"/>
                  </p:ext>
                </p:extLst>
              </p:nvPr>
            </p:nvGraphicFramePr>
            <p:xfrm>
              <a:off x="2356242" y="1808154"/>
              <a:ext cx="7125555" cy="281241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8024">
                      <a:extLst>
                        <a:ext uri="{9D8B030D-6E8A-4147-A177-3AD203B41FA5}">
                          <a16:colId xmlns:a16="http://schemas.microsoft.com/office/drawing/2014/main" val="716605748"/>
                        </a:ext>
                      </a:extLst>
                    </a:gridCol>
                    <a:gridCol w="1011074">
                      <a:extLst>
                        <a:ext uri="{9D8B030D-6E8A-4147-A177-3AD203B41FA5}">
                          <a16:colId xmlns:a16="http://schemas.microsoft.com/office/drawing/2014/main" val="2908911557"/>
                        </a:ext>
                      </a:extLst>
                    </a:gridCol>
                    <a:gridCol w="992774">
                      <a:extLst>
                        <a:ext uri="{9D8B030D-6E8A-4147-A177-3AD203B41FA5}">
                          <a16:colId xmlns:a16="http://schemas.microsoft.com/office/drawing/2014/main" val="1355714310"/>
                        </a:ext>
                      </a:extLst>
                    </a:gridCol>
                    <a:gridCol w="979049">
                      <a:extLst>
                        <a:ext uri="{9D8B030D-6E8A-4147-A177-3AD203B41FA5}">
                          <a16:colId xmlns:a16="http://schemas.microsoft.com/office/drawing/2014/main" val="1775614043"/>
                        </a:ext>
                      </a:extLst>
                    </a:gridCol>
                    <a:gridCol w="1082749">
                      <a:extLst>
                        <a:ext uri="{9D8B030D-6E8A-4147-A177-3AD203B41FA5}">
                          <a16:colId xmlns:a16="http://schemas.microsoft.com/office/drawing/2014/main" val="2056857473"/>
                        </a:ext>
                      </a:extLst>
                    </a:gridCol>
                    <a:gridCol w="1072836">
                      <a:extLst>
                        <a:ext uri="{9D8B030D-6E8A-4147-A177-3AD203B41FA5}">
                          <a16:colId xmlns:a16="http://schemas.microsoft.com/office/drawing/2014/main" val="2870519628"/>
                        </a:ext>
                      </a:extLst>
                    </a:gridCol>
                    <a:gridCol w="979049">
                      <a:extLst>
                        <a:ext uri="{9D8B030D-6E8A-4147-A177-3AD203B41FA5}">
                          <a16:colId xmlns:a16="http://schemas.microsoft.com/office/drawing/2014/main" val="1561664075"/>
                        </a:ext>
                      </a:extLst>
                    </a:gridCol>
                  </a:tblGrid>
                  <a:tr h="51936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02532" t="-2439" r="-412658" b="-45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10390" t="-2439" r="-323377" b="-45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71765" t="-2439" r="-192941" b="-45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471765" t="-2439" r="-92941" b="-458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631169" t="-2439" r="-2597" b="-4585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2896782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36,31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05691357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8,24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87350820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</a:t>
                          </a:r>
                          <a:r>
                            <a:rPr lang="en-US" sz="1200">
                              <a:effectLst/>
                            </a:rPr>
                            <a:t>.</a:t>
                          </a:r>
                          <a:r>
                            <a:rPr lang="ru-RU" sz="1200">
                              <a:effectLst/>
                            </a:rPr>
                            <a:t>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5,30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0,99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87976810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</a:t>
                          </a:r>
                          <a:r>
                            <a:rPr lang="en-US" sz="1200">
                              <a:effectLst/>
                            </a:rPr>
                            <a:t>.</a:t>
                          </a:r>
                          <a:r>
                            <a:rPr lang="ru-RU" sz="1200">
                              <a:effectLst/>
                            </a:rPr>
                            <a:t>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-2,24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74321496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</a:t>
                          </a:r>
                          <a:r>
                            <a:rPr lang="en-US" sz="1200">
                              <a:effectLst/>
                            </a:rPr>
                            <a:t>.</a:t>
                          </a:r>
                          <a:r>
                            <a:rPr lang="ru-RU" sz="1200">
                              <a:effectLst/>
                            </a:rPr>
                            <a:t>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311,64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65097462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47,31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0,96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90675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7A9E756-6D05-EEAB-0A51-60AB739A38A3}"/>
              </a:ext>
            </a:extLst>
          </p:cNvPr>
          <p:cNvSpPr txBox="1"/>
          <p:nvPr/>
        </p:nvSpPr>
        <p:spPr>
          <a:xfrm>
            <a:off x="2356242" y="1371656"/>
            <a:ext cx="7512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5. Результаты оценки модели линейной регрессии методом МНК</a:t>
            </a:r>
          </a:p>
        </p:txBody>
      </p:sp>
    </p:spTree>
    <p:extLst>
      <p:ext uri="{BB962C8B-B14F-4D97-AF65-F5344CB8AC3E}">
        <p14:creationId xmlns:p14="http://schemas.microsoft.com/office/powerpoint/2010/main" val="1883525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8575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Приложение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41512916-7C12-31B6-80AD-85CA5C062B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574804"/>
                  </p:ext>
                </p:extLst>
              </p:nvPr>
            </p:nvGraphicFramePr>
            <p:xfrm>
              <a:off x="2186257" y="1855049"/>
              <a:ext cx="7424494" cy="251957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60642">
                      <a:extLst>
                        <a:ext uri="{9D8B030D-6E8A-4147-A177-3AD203B41FA5}">
                          <a16:colId xmlns:a16="http://schemas.microsoft.com/office/drawing/2014/main" val="852331028"/>
                        </a:ext>
                      </a:extLst>
                    </a:gridCol>
                    <a:gridCol w="1155116">
                      <a:extLst>
                        <a:ext uri="{9D8B030D-6E8A-4147-A177-3AD203B41FA5}">
                          <a16:colId xmlns:a16="http://schemas.microsoft.com/office/drawing/2014/main" val="303973181"/>
                        </a:ext>
                      </a:extLst>
                    </a:gridCol>
                    <a:gridCol w="966168">
                      <a:extLst>
                        <a:ext uri="{9D8B030D-6E8A-4147-A177-3AD203B41FA5}">
                          <a16:colId xmlns:a16="http://schemas.microsoft.com/office/drawing/2014/main" val="2740021484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3415903402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4187900592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916421374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2886347927"/>
                        </a:ext>
                      </a:extLst>
                    </a:gridCol>
                  </a:tblGrid>
                  <a:tr h="37292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>
                                            <a:effectLst/>
                                          </a:rPr>
                                          <m:t>α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v</m:t>
                                    </m:r>
                                    <m:r>
                                      <a:rPr lang="en-US" sz="1200">
                                        <a:effectLst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F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>
                                            <a:effectLst/>
                                          </a:rPr>
                                          <m:t>α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v</m:t>
                                    </m:r>
                                    <m:r>
                                      <a:rPr lang="en-US" sz="1200">
                                        <a:effectLst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S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>
                                            <a:effectLst/>
                                          </a:rPr>
                                          <m:t>β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v</m:t>
                                    </m:r>
                                    <m:r>
                                      <a:rPr lang="en-US" sz="1200">
                                        <a:effectLst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F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200">
                                        <a:effectLst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ru-RU" sz="1200">
                                            <a:effectLst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>
                                            <a:effectLst/>
                                          </a:rPr>
                                          <m:t>β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v</m:t>
                                    </m:r>
                                    <m:r>
                                      <a:rPr lang="en-US" sz="1200">
                                        <a:effectLst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>
                                        <a:effectLst/>
                                      </a:rPr>
                                      <m:t>S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effectLst/>
                                  </a:rPr>
                                  <m:t>c</m:t>
                                </m:r>
                              </m:oMath>
                            </m:oMathPara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702466042"/>
                      </a:ext>
                    </a:extLst>
                  </a:tr>
                  <a:tr h="175954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-0,96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-32,25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92823878"/>
                      </a:ext>
                    </a:extLst>
                  </a:tr>
                  <a:tr h="175954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-6,66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51042684"/>
                      </a:ext>
                    </a:extLst>
                  </a:tr>
                  <a:tr h="372881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-0,03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-0,91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-5,83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90323336"/>
                      </a:ext>
                    </a:extLst>
                  </a:tr>
                  <a:tr h="372881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-1,01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2,51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54244829"/>
                      </a:ext>
                    </a:extLst>
                  </a:tr>
                  <a:tr h="372881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1329.T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0,33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-0,94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-270,34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57601452"/>
                      </a:ext>
                    </a:extLst>
                  </a:tr>
                  <a:tr h="175954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-0,58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-0,92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-41,56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750625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Таблица 2">
                <a:extLst>
                  <a:ext uri="{FF2B5EF4-FFF2-40B4-BE49-F238E27FC236}">
                    <a16:creationId xmlns:a16="http://schemas.microsoft.com/office/drawing/2014/main" id="{41512916-7C12-31B6-80AD-85CA5C062B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574804"/>
                  </p:ext>
                </p:extLst>
              </p:nvPr>
            </p:nvGraphicFramePr>
            <p:xfrm>
              <a:off x="2186257" y="1855049"/>
              <a:ext cx="7424494" cy="251957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60642">
                      <a:extLst>
                        <a:ext uri="{9D8B030D-6E8A-4147-A177-3AD203B41FA5}">
                          <a16:colId xmlns:a16="http://schemas.microsoft.com/office/drawing/2014/main" val="852331028"/>
                        </a:ext>
                      </a:extLst>
                    </a:gridCol>
                    <a:gridCol w="1155116">
                      <a:extLst>
                        <a:ext uri="{9D8B030D-6E8A-4147-A177-3AD203B41FA5}">
                          <a16:colId xmlns:a16="http://schemas.microsoft.com/office/drawing/2014/main" val="303973181"/>
                        </a:ext>
                      </a:extLst>
                    </a:gridCol>
                    <a:gridCol w="966168">
                      <a:extLst>
                        <a:ext uri="{9D8B030D-6E8A-4147-A177-3AD203B41FA5}">
                          <a16:colId xmlns:a16="http://schemas.microsoft.com/office/drawing/2014/main" val="2740021484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3415903402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4187900592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916421374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2886347927"/>
                        </a:ext>
                      </a:extLst>
                    </a:gridCol>
                  </a:tblGrid>
                  <a:tr h="51936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231579" t="-2439" r="-442105" b="-4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3614" t="-2439" r="-304819" b="-4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98810" t="-2439" r="-201190" b="-4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04819" t="-2439" r="-103614" b="-4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597619" t="-2439" r="-2381" b="-4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2466042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-0,96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-32,25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92823878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-0,15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-6,66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651042684"/>
                      </a:ext>
                    </a:extLst>
                  </a:tr>
                  <a:tr h="372881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-0,03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-0,91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-5,83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90323336"/>
                      </a:ext>
                    </a:extLst>
                  </a:tr>
                  <a:tr h="372881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-0,16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-1,01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2,51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54244829"/>
                      </a:ext>
                    </a:extLst>
                  </a:tr>
                  <a:tr h="51930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1329.T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-0,14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0,33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-0,94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-270,34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57601452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-0,58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-0,92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-41,56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750625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D9A20130-A592-C1C5-4729-8EDB9B7B3D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18401"/>
                  </p:ext>
                </p:extLst>
              </p:nvPr>
            </p:nvGraphicFramePr>
            <p:xfrm>
              <a:off x="2186257" y="4455182"/>
              <a:ext cx="7424494" cy="202190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60642">
                      <a:extLst>
                        <a:ext uri="{9D8B030D-6E8A-4147-A177-3AD203B41FA5}">
                          <a16:colId xmlns:a16="http://schemas.microsoft.com/office/drawing/2014/main" val="595005046"/>
                        </a:ext>
                      </a:extLst>
                    </a:gridCol>
                    <a:gridCol w="1149255">
                      <a:extLst>
                        <a:ext uri="{9D8B030D-6E8A-4147-A177-3AD203B41FA5}">
                          <a16:colId xmlns:a16="http://schemas.microsoft.com/office/drawing/2014/main" val="2793555137"/>
                        </a:ext>
                      </a:extLst>
                    </a:gridCol>
                    <a:gridCol w="972029">
                      <a:extLst>
                        <a:ext uri="{9D8B030D-6E8A-4147-A177-3AD203B41FA5}">
                          <a16:colId xmlns:a16="http://schemas.microsoft.com/office/drawing/2014/main" val="2875063138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3180101869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87549890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538437992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424531647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2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pv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1200">
                                          <a:effectLst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a:rPr lang="en-US" sz="12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2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pv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1200">
                                          <a:effectLst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</a:rPr>
                                        <m:t>α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S</m:t>
                                  </m:r>
                                </m:sub>
                              </m:sSub>
                              <m:r>
                                <a:rPr lang="en-US" sz="12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2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pv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1200">
                                          <a:effectLst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</a:rPr>
                                        <m:t>β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a:rPr lang="en-US" sz="12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2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pv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1200">
                                          <a:effectLst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</a:rPr>
                                        <m:t>β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S</m:t>
                                  </m:r>
                                </m:sub>
                              </m:sSub>
                              <m:r>
                                <a:rPr lang="en-US" sz="12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*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sz="12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pv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(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ru-RU" sz="1200">
                                          <a:effectLst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>
                                          <a:effectLst/>
                                        </a:rPr>
                                        <m:t>β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v</m:t>
                                  </m:r>
                                  <m:r>
                                    <a:rPr lang="en-US" sz="1200">
                                      <a:effectLst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effectLst/>
                                    </a:rPr>
                                    <m:t>S</m:t>
                                  </m:r>
                                </m:sub>
                              </m:sSub>
                              <m:r>
                                <a:rPr lang="en-US" sz="1200">
                                  <a:effectLst/>
                                </a:rPr>
                                <m:t>)</m:t>
                              </m:r>
                            </m:oMath>
                          </a14:m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4393659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5761922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683667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68778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0,77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703663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1329.T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365311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0,72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0,0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2044231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D9A20130-A592-C1C5-4729-8EDB9B7B3D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18401"/>
                  </p:ext>
                </p:extLst>
              </p:nvPr>
            </p:nvGraphicFramePr>
            <p:xfrm>
              <a:off x="2186257" y="4455182"/>
              <a:ext cx="7424494" cy="202190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60642">
                      <a:extLst>
                        <a:ext uri="{9D8B030D-6E8A-4147-A177-3AD203B41FA5}">
                          <a16:colId xmlns:a16="http://schemas.microsoft.com/office/drawing/2014/main" val="595005046"/>
                        </a:ext>
                      </a:extLst>
                    </a:gridCol>
                    <a:gridCol w="1149255">
                      <a:extLst>
                        <a:ext uri="{9D8B030D-6E8A-4147-A177-3AD203B41FA5}">
                          <a16:colId xmlns:a16="http://schemas.microsoft.com/office/drawing/2014/main" val="2793555137"/>
                        </a:ext>
                      </a:extLst>
                    </a:gridCol>
                    <a:gridCol w="972029">
                      <a:extLst>
                        <a:ext uri="{9D8B030D-6E8A-4147-A177-3AD203B41FA5}">
                          <a16:colId xmlns:a16="http://schemas.microsoft.com/office/drawing/2014/main" val="2875063138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3180101869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87549890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538437992"/>
                        </a:ext>
                      </a:extLst>
                    </a:gridCol>
                    <a:gridCol w="1060642">
                      <a:extLst>
                        <a:ext uri="{9D8B030D-6E8A-4147-A177-3AD203B41FA5}">
                          <a16:colId xmlns:a16="http://schemas.microsoft.com/office/drawing/2014/main" val="4245316470"/>
                        </a:ext>
                      </a:extLst>
                    </a:gridCol>
                  </a:tblGrid>
                  <a:tr h="551625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Фьючерс 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en-US" sz="1200">
                              <a:effectLst/>
                            </a:rPr>
                            <a:t>ETF </a:t>
                          </a:r>
                          <a:r>
                            <a:rPr lang="ru-RU" sz="1200">
                              <a:effectLst/>
                            </a:rPr>
                            <a:t>(тикер)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27273" t="-2273" r="-436364" b="-27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03614" t="-2273" r="-304819" b="-27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398810" t="-2273" r="-201190" b="-27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04819" t="-2273" r="-103614" b="-279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97619" t="-2273" r="-2381" b="-279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9365947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SPYF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SPY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0,98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257619228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NASD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QQQ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0,23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268366744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STOX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EUN2.DE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0,28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46877892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DAX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EXS1.DE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0,01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0,77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970366381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NIKK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1329.T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36531106"/>
                      </a:ext>
                    </a:extLst>
                  </a:tr>
                  <a:tr h="245047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DJ30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DIA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0,72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>
                              <a:effectLst/>
                            </a:rPr>
                            <a:t>0,0</a:t>
                          </a:r>
                          <a:endParaRPr lang="ru-RU" sz="12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</a:pPr>
                          <a:r>
                            <a:rPr lang="ru-RU" sz="1200" dirty="0">
                              <a:effectLst/>
                            </a:rPr>
                            <a:t>0,0</a:t>
                          </a:r>
                          <a:endParaRPr lang="ru-RU" sz="12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204423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6451090-434B-0C5C-428C-E0A7C7B8CA1A}"/>
              </a:ext>
            </a:extLst>
          </p:cNvPr>
          <p:cNvSpPr txBox="1"/>
          <p:nvPr/>
        </p:nvSpPr>
        <p:spPr>
          <a:xfrm>
            <a:off x="2356242" y="1371656"/>
            <a:ext cx="6252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6. Результаты оценки коэффициентов модели </a:t>
            </a:r>
            <a:r>
              <a:rPr lang="en-US" dirty="0"/>
              <a:t>VECM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874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8575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Приложение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642BBB-5421-526D-12E5-3E559E24F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470" y="2054283"/>
            <a:ext cx="5940425" cy="209169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816AE15-A0C1-B193-E2E9-A1EE533A0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470" y="4193992"/>
            <a:ext cx="5940425" cy="2091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623419-DCF0-890E-4CFA-97B29B19A83E}"/>
              </a:ext>
            </a:extLst>
          </p:cNvPr>
          <p:cNvSpPr txBox="1"/>
          <p:nvPr/>
        </p:nvSpPr>
        <p:spPr>
          <a:xfrm>
            <a:off x="982292" y="1359933"/>
            <a:ext cx="96827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Рисунок 3. Динамика отношения цен российских активов и соответствующих вечных фьючерсов</a:t>
            </a:r>
          </a:p>
          <a:p>
            <a:pPr algn="ctr"/>
            <a:r>
              <a:rPr lang="ru-RU" dirty="0"/>
              <a:t>с без арбитражными границами</a:t>
            </a:r>
          </a:p>
        </p:txBody>
      </p:sp>
    </p:spTree>
    <p:extLst>
      <p:ext uri="{BB962C8B-B14F-4D97-AF65-F5344CB8AC3E}">
        <p14:creationId xmlns:p14="http://schemas.microsoft.com/office/powerpoint/2010/main" val="2708520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7F6F4-3E08-9CA9-878F-C90083D41B41}"/>
              </a:ext>
            </a:extLst>
          </p:cNvPr>
          <p:cNvSpPr txBox="1"/>
          <p:nvPr/>
        </p:nvSpPr>
        <p:spPr>
          <a:xfrm>
            <a:off x="927485" y="817630"/>
            <a:ext cx="285751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defTabSz="825500">
              <a:defRPr sz="3600" b="1">
                <a:solidFill>
                  <a:srgbClr val="BE003E"/>
                </a:solidFill>
                <a:latin typeface="Arial"/>
                <a:cs typeface="Arial"/>
              </a:defRPr>
            </a:lvl1pPr>
          </a:lstStyle>
          <a:p>
            <a:r>
              <a:rPr lang="ru-RU" dirty="0"/>
              <a:t>Приложение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C652-AB45-4ADB-9C54-E611BE0CEAD0}"/>
              </a:ext>
            </a:extLst>
          </p:cNvPr>
          <p:cNvSpPr txBox="1"/>
          <p:nvPr/>
        </p:nvSpPr>
        <p:spPr>
          <a:xfrm>
            <a:off x="600116" y="24457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89686F7-2497-4469-82D5-97564EC7885C}" type="slidenum">
              <a:rPr lang="en-US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4917D1-5155-317F-C881-78427F666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86" y="1371628"/>
            <a:ext cx="5940425" cy="209169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933398-2F36-8919-BB3F-815832AEA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42" y="3552592"/>
            <a:ext cx="5940425" cy="209169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E72B42-3F65-A305-A7B2-336F9EBF2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870" y="2186855"/>
            <a:ext cx="5940425" cy="209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050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1099</TotalTime>
  <Words>853</Words>
  <Application>Microsoft Macintosh PowerPoint</Application>
  <PresentationFormat>Произвольный</PresentationFormat>
  <Paragraphs>367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system-ui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v khodzhaev</cp:lastModifiedBy>
  <cp:revision>207</cp:revision>
  <cp:lastPrinted>2023-11-28T14:29:46Z</cp:lastPrinted>
  <dcterms:created xsi:type="dcterms:W3CDTF">2022-10-16T16:54:41Z</dcterms:created>
  <dcterms:modified xsi:type="dcterms:W3CDTF">2025-12-25T16:08:44Z</dcterms:modified>
</cp:coreProperties>
</file>